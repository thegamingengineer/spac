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7" r:id="rId5"/>
  </p:sldIdLst>
  <p:sldSz cx="18288000" cy="10287000"/>
  <p:notesSz cx="6858000" cy="9144000"/>
  <p:embeddedFontLs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Montserrat Bold" panose="00000800000000000000" charset="0"/>
      <p:regular r:id="rId10"/>
      <p:bold r:id="rId11"/>
    </p:embeddedFont>
    <p:embeddedFont>
      <p:font typeface="Montserrat Italics" panose="020B0604020202020204" charset="0"/>
      <p:regular r:id="rId12"/>
    </p:embeddedFont>
    <p:embeddedFont>
      <p:font typeface="Montserrat Light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13040174" y="508725"/>
            <a:ext cx="4831376" cy="4481953"/>
            <a:chOff x="0" y="0"/>
            <a:chExt cx="6441834" cy="5975937"/>
          </a:xfrm>
        </p:grpSpPr>
        <p:pic>
          <p:nvPicPr>
            <p:cNvPr id="3" name="Picture 3" descr="Et billede, der indeholder diagram, origami, design&#10;&#10;Beskrivelsen er genereret automatisk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t="7625" b="7625"/>
            <a:stretch>
              <a:fillRect/>
            </a:stretch>
          </p:blipFill>
          <p:spPr>
            <a:xfrm>
              <a:off x="0" y="0"/>
              <a:ext cx="6441834" cy="5975937"/>
            </a:xfrm>
            <a:prstGeom prst="rect">
              <a:avLst/>
            </a:prstGeom>
          </p:spPr>
        </p:pic>
      </p:grpSp>
      <p:grpSp>
        <p:nvGrpSpPr>
          <p:cNvPr id="4" name="Group 4"/>
          <p:cNvGrpSpPr>
            <a:grpSpLocks noGrp="1" noUngrp="1" noRot="1" noMove="1" noResize="1"/>
          </p:cNvGrpSpPr>
          <p:nvPr/>
        </p:nvGrpSpPr>
        <p:grpSpPr>
          <a:xfrm>
            <a:off x="418597" y="7200900"/>
            <a:ext cx="844254" cy="844254"/>
            <a:chOff x="0" y="0"/>
            <a:chExt cx="1125672" cy="1125672"/>
          </a:xfrm>
        </p:grpSpPr>
        <p:grpSp>
          <p:nvGrpSpPr>
            <p:cNvPr id="5" name="Group 5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6" name="Freeform 6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" name="TextBox 7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8" name="Freeform 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0066" y="241918"/>
              <a:ext cx="685539" cy="641836"/>
            </a:xfrm>
            <a:custGeom>
              <a:avLst/>
              <a:gdLst/>
              <a:ahLst/>
              <a:cxnLst/>
              <a:rect l="l" t="t" r="r" b="b"/>
              <a:pathLst>
                <a:path w="685539" h="641836">
                  <a:moveTo>
                    <a:pt x="0" y="0"/>
                  </a:moveTo>
                  <a:lnTo>
                    <a:pt x="685539" y="0"/>
                  </a:lnTo>
                  <a:lnTo>
                    <a:pt x="685539" y="641836"/>
                  </a:lnTo>
                  <a:lnTo>
                    <a:pt x="0" y="641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9" name="Group 9"/>
          <p:cNvGrpSpPr>
            <a:grpSpLocks noGrp="1" noUngrp="1" noRot="1" noMove="1" noResize="1"/>
          </p:cNvGrpSpPr>
          <p:nvPr/>
        </p:nvGrpSpPr>
        <p:grpSpPr>
          <a:xfrm>
            <a:off x="418597" y="5067300"/>
            <a:ext cx="844254" cy="844254"/>
            <a:chOff x="0" y="0"/>
            <a:chExt cx="1125672" cy="1125672"/>
          </a:xfrm>
        </p:grpSpPr>
        <p:grpSp>
          <p:nvGrpSpPr>
            <p:cNvPr id="10" name="Group 10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11" name="Freeform 11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TextBox 12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8030" y="218030"/>
              <a:ext cx="689612" cy="689612"/>
            </a:xfrm>
            <a:custGeom>
              <a:avLst/>
              <a:gdLst/>
              <a:ahLst/>
              <a:cxnLst/>
              <a:rect l="l" t="t" r="r" b="b"/>
              <a:pathLst>
                <a:path w="689612" h="689612">
                  <a:moveTo>
                    <a:pt x="0" y="0"/>
                  </a:moveTo>
                  <a:lnTo>
                    <a:pt x="689612" y="0"/>
                  </a:lnTo>
                  <a:lnTo>
                    <a:pt x="689612" y="689612"/>
                  </a:lnTo>
                  <a:lnTo>
                    <a:pt x="0" y="68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4" name="Group 14"/>
          <p:cNvGrpSpPr>
            <a:grpSpLocks noGrp="1" noUngrp="1" noRot="1" noMove="1" noResize="1"/>
          </p:cNvGrpSpPr>
          <p:nvPr/>
        </p:nvGrpSpPr>
        <p:grpSpPr>
          <a:xfrm>
            <a:off x="13040174" y="5180755"/>
            <a:ext cx="4831376" cy="4600575"/>
            <a:chOff x="0" y="0"/>
            <a:chExt cx="1272461" cy="1211674"/>
          </a:xfrm>
        </p:grpSpPr>
        <p:sp>
          <p:nvSpPr>
            <p:cNvPr id="15" name="Freeform 1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72461" cy="1211674"/>
            </a:xfrm>
            <a:custGeom>
              <a:avLst/>
              <a:gdLst/>
              <a:ahLst/>
              <a:cxnLst/>
              <a:rect l="l" t="t" r="r" b="b"/>
              <a:pathLst>
                <a:path w="1272461" h="1211674">
                  <a:moveTo>
                    <a:pt x="0" y="0"/>
                  </a:moveTo>
                  <a:lnTo>
                    <a:pt x="1272461" y="0"/>
                  </a:lnTo>
                  <a:lnTo>
                    <a:pt x="1272461" y="1211674"/>
                  </a:lnTo>
                  <a:lnTo>
                    <a:pt x="0" y="1211674"/>
                  </a:lnTo>
                  <a:close/>
                </a:path>
              </a:pathLst>
            </a:custGeom>
            <a:solidFill>
              <a:srgbClr val="003B8B"/>
            </a:solidFill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TextBox 1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1272461" cy="1249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AutoShape 1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476250" y="2514600"/>
            <a:ext cx="12229386" cy="0"/>
          </a:xfrm>
          <a:prstGeom prst="line">
            <a:avLst/>
          </a:prstGeom>
          <a:ln w="28575" cap="flat">
            <a:solidFill>
              <a:srgbClr val="003B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18" name="Group 18"/>
          <p:cNvGrpSpPr>
            <a:grpSpLocks noGrp="1" noUngrp="1" noRot="1" noMove="1" noResize="1"/>
          </p:cNvGrpSpPr>
          <p:nvPr/>
        </p:nvGrpSpPr>
        <p:grpSpPr>
          <a:xfrm>
            <a:off x="5926544" y="2933700"/>
            <a:ext cx="844254" cy="844254"/>
            <a:chOff x="0" y="0"/>
            <a:chExt cx="1125672" cy="1125672"/>
          </a:xfrm>
        </p:grpSpPr>
        <p:grpSp>
          <p:nvGrpSpPr>
            <p:cNvPr id="19" name="Group 19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20" name="Freeform 20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1" name="TextBox 21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702" y="154683"/>
              <a:ext cx="714268" cy="816306"/>
            </a:xfrm>
            <a:custGeom>
              <a:avLst/>
              <a:gdLst/>
              <a:ahLst/>
              <a:cxnLst/>
              <a:rect l="l" t="t" r="r" b="b"/>
              <a:pathLst>
                <a:path w="714268" h="816306">
                  <a:moveTo>
                    <a:pt x="0" y="0"/>
                  </a:moveTo>
                  <a:lnTo>
                    <a:pt x="714268" y="0"/>
                  </a:lnTo>
                  <a:lnTo>
                    <a:pt x="714268" y="816306"/>
                  </a:lnTo>
                  <a:lnTo>
                    <a:pt x="0" y="816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3" name="Group 23"/>
          <p:cNvGrpSpPr>
            <a:grpSpLocks noGrp="1" noUngrp="1" noRot="1" noMove="1" noResize="1"/>
          </p:cNvGrpSpPr>
          <p:nvPr/>
        </p:nvGrpSpPr>
        <p:grpSpPr>
          <a:xfrm>
            <a:off x="5926544" y="5067300"/>
            <a:ext cx="844254" cy="844254"/>
            <a:chOff x="0" y="0"/>
            <a:chExt cx="1125672" cy="1125672"/>
          </a:xfrm>
        </p:grpSpPr>
        <p:grpSp>
          <p:nvGrpSpPr>
            <p:cNvPr id="24" name="Group 24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25" name="Freeform 25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TextBox 26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422" y="236037"/>
              <a:ext cx="848828" cy="653598"/>
            </a:xfrm>
            <a:custGeom>
              <a:avLst/>
              <a:gdLst/>
              <a:ahLst/>
              <a:cxnLst/>
              <a:rect l="l" t="t" r="r" b="b"/>
              <a:pathLst>
                <a:path w="848828" h="653598">
                  <a:moveTo>
                    <a:pt x="0" y="0"/>
                  </a:moveTo>
                  <a:lnTo>
                    <a:pt x="848828" y="0"/>
                  </a:lnTo>
                  <a:lnTo>
                    <a:pt x="848828" y="653598"/>
                  </a:lnTo>
                  <a:lnTo>
                    <a:pt x="0" y="653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8" name="Group 28"/>
          <p:cNvGrpSpPr>
            <a:grpSpLocks noGrp="1" noUngrp="1" noRot="1" noMove="1" noResize="1"/>
          </p:cNvGrpSpPr>
          <p:nvPr/>
        </p:nvGrpSpPr>
        <p:grpSpPr>
          <a:xfrm>
            <a:off x="5926544" y="7200900"/>
            <a:ext cx="844254" cy="844254"/>
            <a:chOff x="0" y="0"/>
            <a:chExt cx="1125672" cy="1125672"/>
          </a:xfrm>
        </p:grpSpPr>
        <p:grpSp>
          <p:nvGrpSpPr>
            <p:cNvPr id="29" name="Group 29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30" name="Freeform 30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TextBox 31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6535" y="156535"/>
              <a:ext cx="812603" cy="812603"/>
            </a:xfrm>
            <a:custGeom>
              <a:avLst/>
              <a:gdLst/>
              <a:ahLst/>
              <a:cxnLst/>
              <a:rect l="l" t="t" r="r" b="b"/>
              <a:pathLst>
                <a:path w="812603" h="812603">
                  <a:moveTo>
                    <a:pt x="0" y="0"/>
                  </a:moveTo>
                  <a:lnTo>
                    <a:pt x="812602" y="0"/>
                  </a:lnTo>
                  <a:lnTo>
                    <a:pt x="812602" y="812602"/>
                  </a:lnTo>
                  <a:lnTo>
                    <a:pt x="0" y="81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3" name="Group 33"/>
          <p:cNvGrpSpPr>
            <a:grpSpLocks noGrp="1" noUngrp="1" noRot="1" noMove="1" noResize="1"/>
          </p:cNvGrpSpPr>
          <p:nvPr/>
        </p:nvGrpSpPr>
        <p:grpSpPr>
          <a:xfrm>
            <a:off x="418597" y="2933700"/>
            <a:ext cx="844254" cy="844254"/>
            <a:chOff x="0" y="0"/>
            <a:chExt cx="1125672" cy="1125672"/>
          </a:xfrm>
        </p:grpSpPr>
        <p:grpSp>
          <p:nvGrpSpPr>
            <p:cNvPr id="34" name="Group 34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35" name="Freeform 35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6" name="TextBox 36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0237" y="174464"/>
              <a:ext cx="765198" cy="776743"/>
            </a:xfrm>
            <a:custGeom>
              <a:avLst/>
              <a:gdLst/>
              <a:ahLst/>
              <a:cxnLst/>
              <a:rect l="l" t="t" r="r" b="b"/>
              <a:pathLst>
                <a:path w="765198" h="776743">
                  <a:moveTo>
                    <a:pt x="0" y="0"/>
                  </a:moveTo>
                  <a:lnTo>
                    <a:pt x="765198" y="0"/>
                  </a:lnTo>
                  <a:lnTo>
                    <a:pt x="765198" y="776743"/>
                  </a:lnTo>
                  <a:lnTo>
                    <a:pt x="0" y="776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8" name="Freeform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63444" y="508725"/>
            <a:ext cx="2341935" cy="519975"/>
          </a:xfrm>
          <a:custGeom>
            <a:avLst/>
            <a:gdLst/>
            <a:ahLst/>
            <a:cxnLst/>
            <a:rect l="l" t="t" r="r" b="b"/>
            <a:pathLst>
              <a:path w="2341935" h="519975">
                <a:moveTo>
                  <a:pt x="0" y="0"/>
                </a:moveTo>
                <a:lnTo>
                  <a:pt x="2341935" y="0"/>
                </a:lnTo>
                <a:lnTo>
                  <a:pt x="2341935" y="519975"/>
                </a:lnTo>
                <a:lnTo>
                  <a:pt x="0" y="519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40" name="TextBox 4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519204" y="5518742"/>
            <a:ext cx="4195314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 err="1">
                <a:solidFill>
                  <a:srgbClr val="FFFFFF"/>
                </a:solidFill>
                <a:latin typeface="Montserrat"/>
              </a:rPr>
              <a:t>Hvem</a:t>
            </a:r>
            <a:r>
              <a:rPr lang="en-US" sz="2450" dirty="0">
                <a:solidFill>
                  <a:srgbClr val="FFFFFF"/>
                </a:solidFill>
                <a:latin typeface="Montserrat"/>
              </a:rPr>
              <a:t> er </a:t>
            </a:r>
            <a:r>
              <a:rPr lang="en-US" sz="2450" dirty="0" err="1">
                <a:solidFill>
                  <a:srgbClr val="FFFFFF"/>
                </a:solidFill>
                <a:latin typeface="Montserrat"/>
              </a:rPr>
              <a:t>jeg</a:t>
            </a:r>
            <a:r>
              <a:rPr lang="en-US" sz="2450" dirty="0">
                <a:solidFill>
                  <a:srgbClr val="FFFFFF"/>
                </a:solidFill>
                <a:latin typeface="Montserrat"/>
              </a:rPr>
              <a:t>?</a:t>
            </a:r>
          </a:p>
        </p:txBody>
      </p:sp>
      <p:sp>
        <p:nvSpPr>
          <p:cNvPr id="43" name="TextBox 4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52378" y="1818690"/>
            <a:ext cx="3743237" cy="336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003B8B"/>
                </a:solidFill>
                <a:latin typeface="Montserrat Light Italics"/>
              </a:rPr>
              <a:t>Konsulent</a:t>
            </a:r>
            <a:r>
              <a:rPr lang="en-US" sz="2000" dirty="0">
                <a:solidFill>
                  <a:srgbClr val="003B8B"/>
                </a:solidFill>
                <a:latin typeface="Montserrat Light Italics"/>
              </a:rPr>
              <a:t> hos Specialisterne</a:t>
            </a:r>
            <a:endParaRPr lang="en-US" dirty="0"/>
          </a:p>
        </p:txBody>
      </p:sp>
      <p:sp>
        <p:nvSpPr>
          <p:cNvPr id="44" name="TextBox 4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0957" y="2933700"/>
            <a:ext cx="3499358" cy="418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 err="1">
                <a:solidFill>
                  <a:srgbClr val="003B8B"/>
                </a:solidFill>
                <a:latin typeface="Montserrat"/>
                <a:cs typeface="Calibri"/>
              </a:rPr>
              <a:t>Faglige</a:t>
            </a:r>
            <a:r>
              <a:rPr lang="en-US" sz="2450" dirty="0">
                <a:solidFill>
                  <a:srgbClr val="003B8B"/>
                </a:solidFill>
                <a:latin typeface="Montserrat"/>
                <a:cs typeface="Calibri"/>
              </a:rPr>
              <a:t> </a:t>
            </a:r>
            <a:r>
              <a:rPr lang="en-US" sz="2450" dirty="0" err="1">
                <a:solidFill>
                  <a:srgbClr val="003B8B"/>
                </a:solidFill>
                <a:latin typeface="Montserrat"/>
                <a:cs typeface="Calibri"/>
              </a:rPr>
              <a:t>kompetencer</a:t>
            </a:r>
            <a:endParaRPr lang="da-DK" dirty="0" err="1"/>
          </a:p>
        </p:txBody>
      </p:sp>
      <p:sp>
        <p:nvSpPr>
          <p:cNvPr id="45" name="TextBox 45"/>
          <p:cNvSpPr txBox="1">
            <a:spLocks/>
          </p:cNvSpPr>
          <p:nvPr/>
        </p:nvSpPr>
        <p:spPr>
          <a:xfrm>
            <a:off x="1660957" y="3467100"/>
            <a:ext cx="2314163" cy="15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bioteknologi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bioinformatik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Datavidenskab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Systembiologi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Molekylærbiologi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46" name="TextBox 4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0957" y="5067300"/>
            <a:ext cx="3499581" cy="414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Projekter</a:t>
            </a:r>
            <a:r>
              <a:rPr lang="en-US" sz="2450" dirty="0">
                <a:solidFill>
                  <a:srgbClr val="003B8B"/>
                </a:solidFill>
                <a:latin typeface="Montserrat"/>
              </a:rPr>
              <a:t> </a:t>
            </a: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og</a:t>
            </a:r>
            <a:r>
              <a:rPr lang="en-US" sz="2450" dirty="0">
                <a:solidFill>
                  <a:srgbClr val="003B8B"/>
                </a:solidFill>
                <a:latin typeface="Montserrat"/>
              </a:rPr>
              <a:t> </a:t>
            </a: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opgaver</a:t>
            </a:r>
          </a:p>
        </p:txBody>
      </p:sp>
      <p:sp>
        <p:nvSpPr>
          <p:cNvPr id="47" name="TextBox 47"/>
          <p:cNvSpPr txBox="1">
            <a:spLocks/>
          </p:cNvSpPr>
          <p:nvPr/>
        </p:nvSpPr>
        <p:spPr>
          <a:xfrm>
            <a:off x="1660956" y="5905500"/>
            <a:ext cx="5109841" cy="1326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MySQL-class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i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python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deep learning model promoter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forudsigelse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Businessanalyse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I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powerBI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ETL-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oprettelse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og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–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vedligeholdelse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TransporterPAL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</a:t>
            </a:r>
          </a:p>
        </p:txBody>
      </p:sp>
      <p:sp>
        <p:nvSpPr>
          <p:cNvPr id="48" name="TextBox 48"/>
          <p:cNvSpPr txBox="1">
            <a:spLocks/>
          </p:cNvSpPr>
          <p:nvPr/>
        </p:nvSpPr>
        <p:spPr>
          <a:xfrm>
            <a:off x="1660956" y="5579808"/>
            <a:ext cx="4587443" cy="249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Data management </a:t>
            </a:r>
            <a:r>
              <a:rPr lang="en-US" sz="1500" dirty="0">
                <a:solidFill>
                  <a:srgbClr val="003B8B"/>
                </a:solidFill>
                <a:latin typeface="Montserrat"/>
              </a:rPr>
              <a:t>hos Specialisterne | 2025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49" name="TextBox 4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75745" y="5067300"/>
            <a:ext cx="2822582" cy="41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>
                <a:solidFill>
                  <a:srgbClr val="003B8B"/>
                </a:solidFill>
                <a:latin typeface="Montserrat"/>
              </a:rPr>
              <a:t>Sprog</a:t>
            </a:r>
            <a:endParaRPr lang="da-DK" dirty="0"/>
          </a:p>
        </p:txBody>
      </p:sp>
      <p:sp>
        <p:nvSpPr>
          <p:cNvPr id="50" name="TextBox 50"/>
          <p:cNvSpPr txBox="1">
            <a:spLocks/>
          </p:cNvSpPr>
          <p:nvPr/>
        </p:nvSpPr>
        <p:spPr>
          <a:xfrm>
            <a:off x="7175745" y="5600700"/>
            <a:ext cx="2314163" cy="15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Dansk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Engelsk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Tysk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Fransk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(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begynder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)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Spansk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(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begynder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)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Rusisk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(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begynder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)</a:t>
            </a:r>
          </a:p>
        </p:txBody>
      </p:sp>
      <p:sp>
        <p:nvSpPr>
          <p:cNvPr id="51" name="TextBox 5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75745" y="7200900"/>
            <a:ext cx="4176134" cy="418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Personlige</a:t>
            </a:r>
            <a:r>
              <a:rPr lang="en-US" sz="2450" dirty="0">
                <a:solidFill>
                  <a:srgbClr val="003B8B"/>
                </a:solidFill>
                <a:latin typeface="Montserrat"/>
              </a:rPr>
              <a:t> </a:t>
            </a: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kompetencer</a:t>
            </a:r>
            <a:endParaRPr lang="da-DK" dirty="0" err="1"/>
          </a:p>
        </p:txBody>
      </p:sp>
      <p:sp>
        <p:nvSpPr>
          <p:cNvPr id="52" name="TextBox 52"/>
          <p:cNvSpPr txBox="1">
            <a:spLocks/>
          </p:cNvSpPr>
          <p:nvPr/>
        </p:nvSpPr>
        <p:spPr>
          <a:xfrm>
            <a:off x="7175745" y="7734300"/>
            <a:ext cx="2314163" cy="15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observant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iderig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Indsigtsfuld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Analytisk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53" name="TextBox 5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0957" y="7200900"/>
            <a:ext cx="28225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>
                <a:solidFill>
                  <a:srgbClr val="003B8B"/>
                </a:solidFill>
                <a:latin typeface="Montserrat"/>
              </a:rPr>
              <a:t>IT </a:t>
            </a: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kompetencer</a:t>
            </a:r>
            <a:endParaRPr lang="en-US" sz="2499" dirty="0" err="1">
              <a:solidFill>
                <a:srgbClr val="003B8B"/>
              </a:solidFill>
              <a:latin typeface="Montserrat"/>
            </a:endParaRPr>
          </a:p>
        </p:txBody>
      </p:sp>
      <p:sp>
        <p:nvSpPr>
          <p:cNvPr id="54" name="TextBox 54"/>
          <p:cNvSpPr txBox="1">
            <a:spLocks/>
          </p:cNvSpPr>
          <p:nvPr/>
        </p:nvSpPr>
        <p:spPr>
          <a:xfrm>
            <a:off x="1660957" y="7733277"/>
            <a:ext cx="3860640" cy="2673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python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R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Unix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SQL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PowerB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ETL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GitHub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PyMOL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Pytorch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55" name="TextBox 5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75745" y="2933700"/>
            <a:ext cx="295816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 err="1">
                <a:solidFill>
                  <a:srgbClr val="003B8B"/>
                </a:solidFill>
                <a:latin typeface="Montserrat"/>
              </a:rPr>
              <a:t>Udddannelse</a:t>
            </a:r>
            <a:endParaRPr lang="en-US" sz="2499" dirty="0" err="1">
              <a:solidFill>
                <a:srgbClr val="003B8B"/>
              </a:solidFill>
              <a:latin typeface="Montserrat"/>
            </a:endParaRPr>
          </a:p>
        </p:txBody>
      </p:sp>
      <p:sp>
        <p:nvSpPr>
          <p:cNvPr id="56" name="TextBox 56"/>
          <p:cNvSpPr txBox="1">
            <a:spLocks/>
          </p:cNvSpPr>
          <p:nvPr/>
        </p:nvSpPr>
        <p:spPr>
          <a:xfrm>
            <a:off x="7175745" y="4000500"/>
            <a:ext cx="5619870" cy="518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Specialiseret I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computiel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biologi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Bachelor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i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Bioteknologi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57" name="TextBox 57"/>
          <p:cNvSpPr txBox="1">
            <a:spLocks/>
          </p:cNvSpPr>
          <p:nvPr/>
        </p:nvSpPr>
        <p:spPr>
          <a:xfrm>
            <a:off x="7175745" y="3446208"/>
            <a:ext cx="5864429" cy="249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Kandidategrad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I bioinformatic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og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systembiologi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| 2021</a:t>
            </a:r>
          </a:p>
        </p:txBody>
      </p:sp>
      <p:sp>
        <p:nvSpPr>
          <p:cNvPr id="58" name="TextBox 58"/>
          <p:cNvSpPr txBox="1">
            <a:spLocks/>
          </p:cNvSpPr>
          <p:nvPr/>
        </p:nvSpPr>
        <p:spPr>
          <a:xfrm>
            <a:off x="7175745" y="3695700"/>
            <a:ext cx="2551425" cy="252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 Italics"/>
              </a:rPr>
              <a:t>DTU</a:t>
            </a:r>
            <a:endParaRPr lang="da-DK" dirty="0" err="1"/>
          </a:p>
        </p:txBody>
      </p:sp>
      <p:sp>
        <p:nvSpPr>
          <p:cNvPr id="61" name="TextBox 39">
            <a:extLst>
              <a:ext uri="{FF2B5EF4-FFF2-40B4-BE49-F238E27FC236}">
                <a16:creationId xmlns:a16="http://schemas.microsoft.com/office/drawing/2014/main" id="{85BAF4E7-4195-8EA2-9D00-560B2C487C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7711" y="337279"/>
            <a:ext cx="8300408" cy="106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60"/>
              </a:lnSpc>
            </a:pPr>
            <a:r>
              <a:rPr lang="en-US" sz="8000" spc="-496" dirty="0">
                <a:solidFill>
                  <a:srgbClr val="003B8B"/>
                </a:solidFill>
                <a:latin typeface="Montserrat Bold"/>
              </a:rPr>
              <a:t>Alexander</a:t>
            </a:r>
          </a:p>
        </p:txBody>
      </p:sp>
      <p:sp>
        <p:nvSpPr>
          <p:cNvPr id="63" name="TextBox 59">
            <a:extLst>
              <a:ext uri="{FF2B5EF4-FFF2-40B4-BE49-F238E27FC236}">
                <a16:creationId xmlns:a16="http://schemas.microsoft.com/office/drawing/2014/main" id="{C04C35E1-0FB7-FBB3-9E13-942E19AC97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7711" y="1347243"/>
            <a:ext cx="8300408" cy="106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60"/>
              </a:lnSpc>
            </a:pPr>
            <a:r>
              <a:rPr lang="en-US" sz="8000" spc="-496" dirty="0">
                <a:solidFill>
                  <a:srgbClr val="003B8B"/>
                </a:solidFill>
                <a:latin typeface="Montserrat Bold"/>
              </a:rPr>
              <a:t>Andersen</a:t>
            </a:r>
          </a:p>
        </p:txBody>
      </p:sp>
      <p:sp>
        <p:nvSpPr>
          <p:cNvPr id="64" name="Tekstfelt 63">
            <a:extLst>
              <a:ext uri="{FF2B5EF4-FFF2-40B4-BE49-F238E27FC236}">
                <a16:creationId xmlns:a16="http://schemas.microsoft.com/office/drawing/2014/main" id="{086716B9-70C1-142C-8829-B3F353B84968}"/>
              </a:ext>
            </a:extLst>
          </p:cNvPr>
          <p:cNvSpPr txBox="1">
            <a:spLocks/>
          </p:cNvSpPr>
          <p:nvPr/>
        </p:nvSpPr>
        <p:spPr>
          <a:xfrm>
            <a:off x="13519204" y="6112466"/>
            <a:ext cx="408299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Jeg er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en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bioingeniør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indenfor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computiel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biologi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med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nogle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års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erfaring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indenfor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datavidenskab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. Jeg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har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opnået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teoretisk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og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praktisk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erfaring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indenfor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machine learning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og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programmering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og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hvordan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de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kan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anvendes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indenfor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bioteknologi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og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bioinformatik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.. Jeg er god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til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at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sætte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mig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ind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I et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emne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og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udlede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noget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interessant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</a:t>
            </a:r>
            <a:r>
              <a:rPr lang="en-US" dirty="0" err="1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fra</a:t>
            </a:r>
            <a:r>
              <a:rPr lang="en-US" dirty="0">
                <a:solidFill>
                  <a:srgbClr val="FFFFFF"/>
                </a:solidFill>
                <a:highlight>
                  <a:srgbClr val="B2B27F"/>
                </a:highlight>
                <a:latin typeface="Montserrat"/>
              </a:rPr>
              <a:t> det.  </a:t>
            </a:r>
            <a:endParaRPr lang="da-DK" dirty="0">
              <a:highlight>
                <a:srgbClr val="B2B27F"/>
              </a:highlight>
              <a:ea typeface="Calibri"/>
              <a:cs typeface="Calibri"/>
            </a:endParaRPr>
          </a:p>
        </p:txBody>
      </p:sp>
      <p:pic>
        <p:nvPicPr>
          <p:cNvPr id="42" name="Picture 41" descr="A person holding a certificate&#10;&#10;AI-generated content may be incorrect.">
            <a:extLst>
              <a:ext uri="{FF2B5EF4-FFF2-40B4-BE49-F238E27FC236}">
                <a16:creationId xmlns:a16="http://schemas.microsoft.com/office/drawing/2014/main" id="{02A0C04E-0E47-784D-7E2E-A41082A9831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5" r="16410" b="39000"/>
          <a:stretch/>
        </p:blipFill>
        <p:spPr>
          <a:xfrm>
            <a:off x="12980601" y="505670"/>
            <a:ext cx="4626342" cy="44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27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5cde93-60ed-4188-96d2-24495b59efdb" xsi:nil="true"/>
    <lcf76f155ced4ddcb4097134ff3c332f xmlns="442a18bd-e17f-43f6-a861-caed589f5d9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116FBCB68D34C998BF52594C3C07A" ma:contentTypeVersion="11" ma:contentTypeDescription="Create a new document." ma:contentTypeScope="" ma:versionID="1550cf844cdd52efbf325c99db1a3bba">
  <xsd:schema xmlns:xsd="http://www.w3.org/2001/XMLSchema" xmlns:xs="http://www.w3.org/2001/XMLSchema" xmlns:p="http://schemas.microsoft.com/office/2006/metadata/properties" xmlns:ns2="442a18bd-e17f-43f6-a861-caed589f5d93" xmlns:ns3="815cde93-60ed-4188-96d2-24495b59efdb" targetNamespace="http://schemas.microsoft.com/office/2006/metadata/properties" ma:root="true" ma:fieldsID="704e2908d01d989e4d3c0793fd90259a" ns2:_="" ns3:_="">
    <xsd:import namespace="442a18bd-e17f-43f6-a861-caed589f5d93"/>
    <xsd:import namespace="815cde93-60ed-4188-96d2-24495b59ef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2a18bd-e17f-43f6-a861-caed589f5d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b9d91b3-6351-4763-ac6d-6076a2779e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cde93-60ed-4188-96d2-24495b59ef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9b91c1-9e4a-4aa7-bf0b-430bd577c292}" ma:internalName="TaxCatchAll" ma:showField="CatchAllData" ma:web="815cde93-60ed-4188-96d2-24495b59ef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80551A-67DC-400D-A79F-21D174A5CB57}">
  <ds:schemaRefs>
    <ds:schemaRef ds:uri="http://schemas.microsoft.com/office/2006/documentManagement/types"/>
    <ds:schemaRef ds:uri="2b8f2836-710b-44b6-8b9d-c90230f37951"/>
    <ds:schemaRef ds:uri="http://purl.org/dc/elements/1.1/"/>
    <ds:schemaRef ds:uri="052cdbd3-1c6a-4c32-8df2-e4b5ba5e761e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815cde93-60ed-4188-96d2-24495b59efdb"/>
    <ds:schemaRef ds:uri="442a18bd-e17f-43f6-a861-caed589f5d93"/>
  </ds:schemaRefs>
</ds:datastoreItem>
</file>

<file path=customXml/itemProps2.xml><?xml version="1.0" encoding="utf-8"?>
<ds:datastoreItem xmlns:ds="http://schemas.openxmlformats.org/officeDocument/2006/customXml" ds:itemID="{9435FD50-C493-4291-B0F6-D1ECE31420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2a18bd-e17f-43f6-a861-caed589f5d93"/>
    <ds:schemaRef ds:uri="815cde93-60ed-4188-96d2-24495b59ef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B3A9D5-53B5-45DF-850D-ADEE1C1D33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145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Montserrat Italics</vt:lpstr>
      <vt:lpstr>Montserrat Bold</vt:lpstr>
      <vt:lpstr>Calibri</vt:lpstr>
      <vt:lpstr>Montserrat Light Italics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 CV</dc:title>
  <dc:creator>spac-30</dc:creator>
  <cp:lastModifiedBy>Alexander Andersen</cp:lastModifiedBy>
  <cp:revision>156</cp:revision>
  <dcterms:created xsi:type="dcterms:W3CDTF">2006-08-16T00:00:00Z</dcterms:created>
  <dcterms:modified xsi:type="dcterms:W3CDTF">2025-05-16T09:06:19Z</dcterms:modified>
  <dc:identifier>DAGAONXF8Y8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0x01010001E116FBCB68D34C998BF52594C3C07A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